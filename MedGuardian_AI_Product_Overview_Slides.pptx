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MedGuardian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Medication Adherence &amp; Drug-Interaction Copilot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8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Proposal  —  Management of AI Products (MBACC ZG583)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4745736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4745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Assessment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715000" y="4846320"/>
            <a:ext cx="2734056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4846320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5303520"/>
            <a:ext cx="3538728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03520"/>
            <a:ext cx="3538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07992" y="5303520"/>
            <a:ext cx="722376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5303520"/>
            <a:ext cx="722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76672" y="530352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5303520"/>
            <a:ext cx="1124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47688" y="5303520"/>
            <a:ext cx="1728216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530352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22208" y="530352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5303520"/>
            <a:ext cx="1124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793224" y="53035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93224" y="53035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760720"/>
            <a:ext cx="1728216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76072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97480" y="5760720"/>
            <a:ext cx="2734056" cy="365760"/>
          </a:xfrm>
          <a:prstGeom prst="roundRect">
            <a:avLst>
              <a:gd name="adj" fmla="val 50000"/>
            </a:avLst>
          </a:prstGeom>
          <a:solidFill>
            <a:srgbClr val="0E2B63"/>
          </a:solidFill>
          <a:ln w="9525">
            <a:solidFill>
              <a:srgbClr val="2A4E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5760720"/>
            <a:ext cx="2734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is an AI-powered medication adherence and drug-interaction copilot for patients managing multiple chronic-disease prescriptions (“polypharmacy”). It combines a rules-grounded interaction engine, built on open pharmacological data, with a generative-AI explanation layer — delivered as a mobile companion app that can also be embedded inside an existing pharmacy, health-insurer, or hospital app.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doses and unrecognized drug-drug interactions are a leading, preventable cause of hospital readmission among patients on three or more chronic medications. MedGuardian addresses this with daily adherence nudges, plain-language interaction alerts, and a human-pharmacist escalation path for high-risk cases — an explicit human-in-the-loop MVP design rather than full automation from day one.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3F7FD"/>
          </a:solidFill>
          <a:ln/>
        </p:spPr>
      </p:sp>
      <p:sp>
        <p:nvSpPr>
          <p:cNvPr id="7" name="Shape 5"/>
          <p:cNvSpPr/>
          <p:nvPr/>
        </p:nvSpPr>
        <p:spPr>
          <a:xfrm>
            <a:off x="7086600" y="182880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26680" y="17830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Rules-grounded engine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086600" y="22585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logic runs on open pharmacological data — no novel model required.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301752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3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7086600" y="324612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26680" y="32004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explanation 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86600" y="367588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structured risk data into plain language a patient trusts.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4434840"/>
            <a:ext cx="4754880" cy="1234440"/>
          </a:xfrm>
          <a:prstGeom prst="roundRect">
            <a:avLst>
              <a:gd name="adj" fmla="val 7407"/>
            </a:avLst>
          </a:prstGeom>
          <a:solidFill>
            <a:srgbClr val="F3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466344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26680" y="46177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86600" y="509320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pharmacist reviews every high-risk flag before it reaches a patient.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→ AI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01C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55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on multiple chronic medications frequently miss doses or unknowingly combine drugs in ways that cause adverse events — driving avoidable ER visits and non-adherence-related disease progression.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3F7FD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566160"/>
            <a:ext cx="594360" cy="59436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566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5661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/ classification problem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patient's current medication list, dosing history, and a candidate new prescription, predict interaction risk and adherence-drop-off risk.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29184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3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6492240" y="3566160"/>
            <a:ext cx="594360" cy="59436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566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69480" y="35661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problem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5262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structured interaction/adherence data into a plain-language, personalized explanation and nudge.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Isn't This Already Solved?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physician and pharmacist both check interactions — but only against what they can see, once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OTC &amp; supplement blind spot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physician has no visibility into the ibuprofen, antacid, or supplement a patient bought on their own — the single largest source of unrecognized interactions.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3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1965960"/>
            <a:ext cx="566928" cy="566928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223760" y="194767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prescribers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cardiologist, an endocrinologist, and a GP each prescribe independently. Without a unified record, no single check ever sees the combined list.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3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14223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Point-in-time, not continuous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prescriber checks interactions once, against the list known at that moment. What the patient adds over the following weeks is invisible until the next visit.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3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160520"/>
            <a:ext cx="566928" cy="566928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4142232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≠ adherence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8920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warning given correctly, once, in a rushed visit rarely survives weeks of unsupervised daily dosing without reinforcement at the moment of risk.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product closes is not a knowledge gap in medicine — it's a visibility gap between fragmented, point-in-time checks and what a patient is actually taking, continuously, after they leave the pharmacy counter.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Opportunity Matrix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vs. Feasibility — MedGuardian sits in the quadrant every AI product wants to be 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480560"/>
          </a:xfrm>
          <a:prstGeom prst="rect">
            <a:avLst/>
          </a:prstGeom>
          <a:solidFill>
            <a:srgbClr val="F3F7FD"/>
          </a:solidFill>
          <a:ln w="12700">
            <a:solidFill>
              <a:srgbClr val="94B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1691640"/>
            <a:ext cx="0" cy="448056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931920"/>
            <a:ext cx="52120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217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 rot="16200000">
            <a:off x="137160" y="2743200"/>
            <a:ext cx="457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↑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9202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0A53B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9202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— BUILD NOW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73245" y="2549347"/>
            <a:ext cx="256032" cy="256032"/>
          </a:xfrm>
          <a:prstGeom prst="ellipse">
            <a:avLst/>
          </a:prstGeom>
          <a:solidFill>
            <a:srgbClr val="001C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5421" y="2841955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3F7F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81965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14884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addresses a top-3 driver of preventable hospital readmission; strong willingness-to-pay from health plans/PBMs.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10896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3F7F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23697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feasibility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56616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for MVP — core logic runs on existing open pharmacological data; the GenAI layer is a thin wrapper, not a research problem.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52628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3F7F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654296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availability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9834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DrugBank, RxNorm, and openFDA are free, structured, and API-accessible today.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598932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Placement: Quadrant = High Value / High Feasibility — a near-term build, not a long-horizon bet.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vs. Buy vs. API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MedGuardian spends its engineering effort — and where it deliberately doesn't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3F7F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interaction &amp; label 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198882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94BFE7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9888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API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0" y="1755648"/>
            <a:ext cx="43434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DrugBank, RxNorm (NLM), and openFDA rather than building a pharmacological database from scratch.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3F7F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53512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reasoning + risk scoring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3186684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A53B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1866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0" y="2953512"/>
            <a:ext cx="43434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layer combining patient-specific factors (age, renal-function proxy, adherence history) is the product's core IP.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41648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3F7F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51376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 / conversational layer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4384548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43845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model + Build guardrails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4151376"/>
            <a:ext cx="43434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general-purpose LLM API for language generation; build the clinical-safety prompt layer and human-review workflow in-house.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3F7F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49240"/>
            <a:ext cx="356616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80560" y="5582412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01C4A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55824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5349240"/>
            <a:ext cx="43434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 via health plans/PBMs and pharmacy chains rather than pure direct-to-consumer acquisition.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product around the patient; build the MVP to satisfy the buyer who funds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2024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4752" y="18745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END USER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44752" y="20939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Polypharmacy patients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58775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45–75, 3+ chronic prescriptions. Need simple reminders and plain-language warnings, not alarm. Low direct pay — funded via insurer/PBM.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3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6473952" y="192024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3" name="Text 11"/>
          <p:cNvSpPr/>
          <p:nvPr/>
        </p:nvSpPr>
        <p:spPr>
          <a:xfrm>
            <a:off x="647395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14032" y="18745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CHANNEL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14032" y="209397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plans / PBMs (B2B)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58775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the cost of avoidable readmissions. Need measurable safety outcomes and auditable logs. PMPM contracts — strong willingness to pay.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3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" y="4251960"/>
            <a:ext cx="502920" cy="502920"/>
          </a:xfrm>
          <a:prstGeom prst="ellipse">
            <a:avLst/>
          </a:prstGeom>
          <a:solidFill>
            <a:srgbClr val="8FA3C4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4752" y="42062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44752" y="44256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caregivers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91947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children managing an elderly parent's meds remotely. Want visibility and actionable alerts. Will pay a modest subscription directly.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02336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3F7F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73952" y="4251960"/>
            <a:ext cx="502920" cy="502920"/>
          </a:xfrm>
          <a:prstGeom prst="ellipse">
            <a:avLst/>
          </a:prstGeom>
          <a:solidFill>
            <a:srgbClr val="8FA3C4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14032" y="42062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HOOK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14032" y="44256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Newly diagnosed patients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491947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started a new chronic prescription. Highest anxiety and attention window — education-heavy onboarding moment for the funnel.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4.1 – 4.2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Jobs-to-Be-Done &amp; Product Vision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01C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1993392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trusted layer between “what my doctor prescribed” and “what I actually take,” reducing preventable harm from polypharmacy — first as a consumer companion app, then embedded inside pharmacy, insurer, and EHR platforms.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3F7F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B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303580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get a new prescription, help me understand quickly and calmly whether it's safe to take with what I already take, so I don't have to call three different doctors to find out.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3F7F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032504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B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371600" y="418795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I'm juggling multiple daily medications, remind me in a way that fits my routine, so I don't forget a dose or double up.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30368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3F7F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84648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4B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371600" y="5340096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looks risky, tell me clearly what to do next and who to talk to, so I feel supported, not just alarmed.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Strategy — Staged Automation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“AI illusion” done responsibly: automation earns its way in, stage by stage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4617720"/>
          </a:xfrm>
          <a:prstGeom prst="roundRect">
            <a:avLst>
              <a:gd name="adj" fmla="val 2564"/>
            </a:avLst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01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lookup + adherence reminders (rules-based, deterministic)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high-risk interaction alerts reviewed by a licensed pharmacist before being shown to the patient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TO PROGRESS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525780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 pharmacist agreement with AI-flagged risk level over a 60-day pilot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645920"/>
            <a:ext cx="3566160" cy="4617720"/>
          </a:xfrm>
          <a:prstGeom prst="roundRect">
            <a:avLst>
              <a:gd name="adj" fmla="val 2564"/>
            </a:avLst>
          </a:prstGeom>
          <a:solidFill>
            <a:srgbClr val="F3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6360" y="1901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2560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26280" y="27889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explanations generated and sent automatically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2628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26280" y="40233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alerts and any low-confidence GenAI 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5029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TO PROGRESS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26280" y="525780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on low-risk alerts &lt; 5%, validated against pharmacist audit sample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1645920"/>
            <a:ext cx="3566160" cy="4617720"/>
          </a:xfrm>
          <a:prstGeom prst="roundRect">
            <a:avLst>
              <a:gd name="adj" fmla="val 2564"/>
            </a:avLst>
          </a:prstGeom>
          <a:solidFill>
            <a:srgbClr val="001C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75320" y="187452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7" name="Text 25"/>
          <p:cNvSpPr/>
          <p:nvPr/>
        </p:nvSpPr>
        <p:spPr>
          <a:xfrm>
            <a:off x="82753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15400" y="19019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75320" y="2560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5320" y="27889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adherence-risk prediction — who is likely to lapse, and when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7532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275320" y="40233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audit sample + all edge cases flagged by the model itself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5029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TO PROGRESS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75320" y="525780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7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accuracy + a completed clinical/regulatory review for the launch jurisdiction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is designed to build trust, not just convey information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627632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Medication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901952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Photo/barcode scan of a label, auto-matched against RxNorm rather than manual entry.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496312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check-in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770632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low-friction tap — Taken / Skipped / Remind me later — rather than a form.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364992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alert card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639312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with a one-tap “Talk to a pharmacist” escalation.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233672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panel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507992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explanation has a “Why am I seeing this?” section showing its source data.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5102352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Caregiver view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5376672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permissioned, read-only dashboard for a family member, with its own consent flow.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1645920"/>
            <a:ext cx="4251960" cy="4251960"/>
          </a:xfrm>
          <a:prstGeom prst="roundRect">
            <a:avLst>
              <a:gd name="adj" fmla="val 2151"/>
            </a:avLst>
          </a:prstGeom>
          <a:solidFill>
            <a:srgbClr val="F3F7FD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18288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TRUST &amp; UNCERTAINTY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35240" y="21945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91272" y="21945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shown as a plain-language band (Low / Moderate / Talk to your pharmacist), never a raw probability score.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635240" y="2944368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91272" y="294436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output is routed to the pharmacist queue, never shown directly to the patient.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35240" y="3694176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891272" y="369417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cites its data source (e.g., “Based on FDA label data”) instead of an unattributed AI claim.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35240" y="4443984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91272" y="4443984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explicit that it does not replace a doctor or pharmacist, with a persistent one-tap path to a human.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Prioritization (RICE)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in the MVP, what follows fast, and what waits for scale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417320"/>
                <a:gridCol w="1280160"/>
                <a:gridCol w="1554480"/>
                <a:gridCol w="123444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Barcode/photo medication capture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— MVP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alert (rules-based + pharmacist review)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— MVP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adherence check-in &amp; reminders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— MVP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GenAI plain-language explanations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— Fast follow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Caregiver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D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adherence-risk prediction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(needs data)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Scale 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EHR/pharmacy system integration (API)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Low→High long-term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1C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Scale 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D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Framework (KPI Architecture)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linked decisions: is it safely reducing harm, and is it building traction to scale?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51560"/>
                <a:gridCol w="4114800"/>
                <a:gridCol w="141732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It Supports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B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Medication adherence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product delivering its core clinical value?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 at 90 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 alerts acted 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alerts changing behavior, not just being dismissed?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False-positive interaction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alert fatigue eroding trust?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daily-use loop working?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Pharmacist review turnaround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human-in-the-loop step a bottleneck?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hrs (high-risk)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Readmission-proxy reduction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this justify PBM/insurer renewal &amp; pricing?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Affairs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vs. control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Pilot-to-contract conversion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go-to-market channel working?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Lead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30% of pilots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3F7FD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metrics removed:  </a:t>
            </a:r>
            <a:pPr indent="0" marL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downloads, DAU in isolation, and number of AI explanations sent — none indicate adherence or safety outcomes.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Feasibility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below is free, structured, and API-accessible today — this is buildable, not hypothetical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24328" cy="4114800"/>
          </a:xfrm>
          <a:prstGeom prst="roundRect">
            <a:avLst>
              <a:gd name="adj" fmla="val 3484"/>
            </a:avLst>
          </a:prstGeom>
          <a:solidFill>
            <a:srgbClr val="F3F7FD"/>
          </a:solidFill>
          <a:ln/>
        </p:spPr>
      </p:sp>
      <p:sp>
        <p:nvSpPr>
          <p:cNvPr id="6" name="Shape 4"/>
          <p:cNvSpPr/>
          <p:nvPr/>
        </p:nvSpPr>
        <p:spPr>
          <a:xfrm>
            <a:off x="1540764" y="2011680"/>
            <a:ext cx="640080" cy="64008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7" name="Text 5"/>
          <p:cNvSpPr/>
          <p:nvPr/>
        </p:nvSpPr>
        <p:spPr>
          <a:xfrm>
            <a:off x="154076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DrugBank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drug-drug interaction data, mechanisms, and severity.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5166360"/>
            <a:ext cx="2350008" cy="502920"/>
          </a:xfrm>
          <a:prstGeom prst="roundRect">
            <a:avLst>
              <a:gd name="adj" fmla="val 14545"/>
            </a:avLst>
          </a:prstGeom>
          <a:solidFill>
            <a:srgbClr val="A8D5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166360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academic/API; commercial license at scale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5848" y="1737360"/>
            <a:ext cx="2624328" cy="4114800"/>
          </a:xfrm>
          <a:prstGeom prst="roundRect">
            <a:avLst>
              <a:gd name="adj" fmla="val 3484"/>
            </a:avLst>
          </a:prstGeom>
          <a:solidFill>
            <a:srgbClr val="F3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972" y="2011680"/>
            <a:ext cx="640080" cy="64008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97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3008" y="278892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RxNorm (NLM)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38728" y="324612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drug naming so free-text or scanned labels map to a canonical drug identity.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93008" y="5166360"/>
            <a:ext cx="2350008" cy="502920"/>
          </a:xfrm>
          <a:prstGeom prst="roundRect">
            <a:avLst>
              <a:gd name="adj" fmla="val 14545"/>
            </a:avLst>
          </a:prstGeom>
          <a:solidFill>
            <a:srgbClr val="A8D5FF"/>
          </a:solidFill>
          <a:ln/>
        </p:spPr>
      </p:sp>
      <p:sp>
        <p:nvSpPr>
          <p:cNvPr id="18" name="Text 16"/>
          <p:cNvSpPr/>
          <p:nvPr/>
        </p:nvSpPr>
        <p:spPr>
          <a:xfrm>
            <a:off x="3538728" y="5166360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1737360"/>
            <a:ext cx="2624328" cy="4114800"/>
          </a:xfrm>
          <a:prstGeom prst="roundRect">
            <a:avLst>
              <a:gd name="adj" fmla="val 3484"/>
            </a:avLst>
          </a:prstGeom>
          <a:solidFill>
            <a:srgbClr val="F3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7155180" y="2011680"/>
            <a:ext cx="640080" cy="64008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1" name="Text 19"/>
          <p:cNvSpPr/>
          <p:nvPr/>
        </p:nvSpPr>
        <p:spPr>
          <a:xfrm>
            <a:off x="71551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278892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openFDA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45936" y="324612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drug label data and adverse-event reports (FAERS) for safety-signal context.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0216" y="5166360"/>
            <a:ext cx="2350008" cy="502920"/>
          </a:xfrm>
          <a:prstGeom prst="roundRect">
            <a:avLst>
              <a:gd name="adj" fmla="val 14545"/>
            </a:avLst>
          </a:prstGeom>
          <a:solidFill>
            <a:srgbClr val="A8D5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45936" y="5166360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70264" y="1737360"/>
            <a:ext cx="2624328" cy="4114800"/>
          </a:xfrm>
          <a:prstGeom prst="roundRect">
            <a:avLst>
              <a:gd name="adj" fmla="val 3484"/>
            </a:avLst>
          </a:prstGeom>
          <a:solidFill>
            <a:srgbClr val="F3F7FD"/>
          </a:solidFill>
          <a:ln/>
        </p:spPr>
      </p:sp>
      <p:sp>
        <p:nvSpPr>
          <p:cNvPr id="27" name="Shape 25"/>
          <p:cNvSpPr/>
          <p:nvPr/>
        </p:nvSpPr>
        <p:spPr>
          <a:xfrm>
            <a:off x="9962388" y="2011680"/>
            <a:ext cx="640080" cy="64008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8" name="Text 26"/>
          <p:cNvSpPr/>
          <p:nvPr/>
        </p:nvSpPr>
        <p:spPr>
          <a:xfrm>
            <a:off x="9962388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07424" y="2788920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First-party data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53144" y="3246120"/>
            <a:ext cx="22585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adherence history, used to personalize risk and nudge timing.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07424" y="5166360"/>
            <a:ext cx="2350008" cy="502920"/>
          </a:xfrm>
          <a:prstGeom prst="roundRect">
            <a:avLst>
              <a:gd name="adj" fmla="val 14545"/>
            </a:avLst>
          </a:prstGeom>
          <a:solidFill>
            <a:srgbClr val="A8D5FF"/>
          </a:solidFill>
          <a:ln/>
        </p:spPr>
      </p:sp>
      <p:sp>
        <p:nvSpPr>
          <p:cNvPr id="32" name="Text 30"/>
          <p:cNvSpPr/>
          <p:nvPr/>
        </p:nvSpPr>
        <p:spPr>
          <a:xfrm>
            <a:off x="9153144" y="5166360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with explicit consent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register spans clinical, regulatory, privacy, and adoption risk — each with an owner-ready mitigation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2880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Unreviewed high-risk interaction reaches a patient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2E9F5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377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Low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58568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2258568" y="2377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Severe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2770632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pharmacist review of all high-risk flags; conservative over-flagging; incident-review process.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182880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classification as a medical device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98848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2E9F5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377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Medium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07608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77D22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2377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98848" y="2770632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regulatory counsel; MVP 1 built as decision-support with mandatory human review, not autonomous diagnosis.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20" name="Text 18"/>
          <p:cNvSpPr/>
          <p:nvPr/>
        </p:nvSpPr>
        <p:spPr>
          <a:xfrm>
            <a:off x="8247888" y="182880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data privacy breach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47888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2E9F5"/>
          </a:solidFill>
          <a:ln/>
        </p:spPr>
      </p:sp>
      <p:sp>
        <p:nvSpPr>
          <p:cNvPr id="22" name="Text 20"/>
          <p:cNvSpPr/>
          <p:nvPr/>
        </p:nvSpPr>
        <p:spPr>
          <a:xfrm>
            <a:off x="8247888" y="2377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Low–Medium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756648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9756648" y="23774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Severe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47888" y="2770632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rest/in transit, minimal retention, HIPAA/DPDP compliance, third-party security audit pre-pilot.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1605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data drift as new drugs enter market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9808" y="47091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2E9F5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709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Medium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58568" y="47091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9A7B1F"/>
          </a:solidFill>
          <a:ln/>
        </p:spPr>
      </p:sp>
      <p:sp>
        <p:nvSpPr>
          <p:cNvPr id="31" name="Text 29"/>
          <p:cNvSpPr/>
          <p:nvPr/>
        </p:nvSpPr>
        <p:spPr>
          <a:xfrm>
            <a:off x="2258568" y="4709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" y="5102352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DrugBank/openFDA syncs; unmatched medications routed to a pharmacist, never silently ignored.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4023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34" name="Text 32"/>
          <p:cNvSpPr/>
          <p:nvPr/>
        </p:nvSpPr>
        <p:spPr>
          <a:xfrm>
            <a:off x="4498848" y="41605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bias — over-trust in the app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498848" y="47091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2E9F5"/>
          </a:solidFill>
          <a:ln/>
        </p:spPr>
      </p:sp>
      <p:sp>
        <p:nvSpPr>
          <p:cNvPr id="36" name="Text 34"/>
          <p:cNvSpPr/>
          <p:nvPr/>
        </p:nvSpPr>
        <p:spPr>
          <a:xfrm>
            <a:off x="4498848" y="4709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Medium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07608" y="47091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C77D22"/>
          </a:solidFill>
          <a:ln/>
        </p:spPr>
      </p:sp>
      <p:sp>
        <p:nvSpPr>
          <p:cNvPr id="38" name="Text 36"/>
          <p:cNvSpPr/>
          <p:nvPr/>
        </p:nvSpPr>
        <p:spPr>
          <a:xfrm>
            <a:off x="6007608" y="4709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Medium–High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98848" y="5102352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frames the app as a support tool with persistent pharmacist escalation and periodic prescriber-review reminders.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46720" y="402336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41" name="Text 39"/>
          <p:cNvSpPr/>
          <p:nvPr/>
        </p:nvSpPr>
        <p:spPr>
          <a:xfrm>
            <a:off x="8247888" y="41605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adoption among low-digital-literacy patients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247888" y="47091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2E9F5"/>
          </a:solidFill>
          <a:ln/>
        </p:spPr>
      </p:sp>
      <p:sp>
        <p:nvSpPr>
          <p:cNvPr id="43" name="Text 41"/>
          <p:cNvSpPr/>
          <p:nvPr/>
        </p:nvSpPr>
        <p:spPr>
          <a:xfrm>
            <a:off x="8247888" y="4709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Medium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56648" y="47091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9A7B1F"/>
          </a:solidFill>
          <a:ln/>
        </p:spPr>
      </p:sp>
      <p:sp>
        <p:nvSpPr>
          <p:cNvPr id="45" name="Text 43"/>
          <p:cNvSpPr/>
          <p:nvPr/>
        </p:nvSpPr>
        <p:spPr>
          <a:xfrm>
            <a:off x="9756648" y="47091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Medium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47888" y="5102352"/>
            <a:ext cx="31638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low-literacy UX from MVP; caregiver-assisted onboarding; usability testing with the target demographic.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9.7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Positioning &amp;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the single largest driver of time-to-launch — this is a first-order product decision, not a detail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01C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73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CLASSIFICATION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02996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1 is positioned as a non-SaMD wellness/adherence tool with clinician-facing decision support — never an autonomous diagnostic. Every moderate/high-risk output stays behind a mandatory pharmacist review (Section 4.3); the product never issues an autonomous treatment recommendation.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3F7FD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99008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900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MVP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A — Non-SaMD wellness/adherence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diagnostic or treatment claim; mandatory human review on anything risky.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45994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~3–6 months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FDA premarket clearance required — dominated by internal safety/privacy review, not regulatory filing.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78892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3E9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990088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99008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BY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3429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B — Clinical decision support (SaMD)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4023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alerts framed as an autonomous clinical judgment, replacing rather than informing a pharmacist.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46520" y="45994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53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 months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46520" y="5074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510(k)/De Novo submission — evidence-package build time alone, before any hospital sales cycle starts.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assumption, not a confirmed FDA timeline — validate with regulatory counsel before committing to a launch date. Same logic drives Phase 1–3 distribution toward pharmacy chains and PBMs, not hospital EHR integration (deferred to Phase 4).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Impact Note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assessment: who could this unintentionally harm, and what specifically prevents that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0E2B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4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UNINTENDED CONSEQUENCES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222199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0432" y="2496312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validated mainly on younger, English-speaking, higher-digital-literacy data may underperform for elderly or low-literacy patients — exactly who polypharmacy affects most.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2278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32095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70432" y="348386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data is highly sensitive; combining it with adherence and pharmacy-pickup location raises re-identification risk if not tightly scoped.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2153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41970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displacement / role shift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0432" y="447141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Pharmacists could be perceived as being replaced, when the design intends to augment their capacity by pre-triaging low-risk cases.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5202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51846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Over-reliance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70432" y="545896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may substitute the app's guidance for professional medical advice, especially in ambiguous or borderline-risk cases.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0E2B6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828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B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FOR FAIRNESS &amp; RESPONSIBLE DATA USE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2212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39712" y="221284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models across age, language, and literacy subgroups before launch — report subgroup performance, not just an aggregate number.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0358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39712" y="303580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multilingual, low-literacy, and caregiver-assisted UX modes from MVP, not as a later add-on.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858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39712" y="385876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pharmacist as the explicit escalation authority; involve practicing pharmacists in MVP-1 design and review.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4681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9712" y="468172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what the use case needs, with opt-in consent, retention limits, and a user-facing deletion option.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5504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E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39712" y="5504688"/>
            <a:ext cx="4480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the automated path show a high-risk or low-confidence alert without human review (Section 4.3).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from a single-condition pilot to an embedded, multi-partner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10405872" cy="0"/>
          </a:xfrm>
          <a:prstGeom prst="line">
            <a:avLst/>
          </a:prstGeom>
          <a:noFill/>
          <a:ln w="25400">
            <a:solidFill>
              <a:srgbClr val="94B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0764" y="1737360"/>
            <a:ext cx="640080" cy="64008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7" name="Text 5"/>
          <p:cNvSpPr/>
          <p:nvPr/>
        </p:nvSpPr>
        <p:spPr>
          <a:xfrm>
            <a:off x="1540764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3F7F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22585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Rules-based interaction engine + adherence reminders for a single condition, pharmacist-reviewed alerts, one language.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5212080"/>
            <a:ext cx="2350008" cy="548640"/>
          </a:xfrm>
          <a:prstGeom prst="roundRect">
            <a:avLst>
              <a:gd name="adj" fmla="val 13333"/>
            </a:avLst>
          </a:prstGeom>
          <a:solidFill>
            <a:srgbClr val="0A53B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21208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pilot; ≥95% pharmacist agreement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47972" y="1737360"/>
            <a:ext cx="640080" cy="64008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5" name="Text 13"/>
          <p:cNvSpPr/>
          <p:nvPr/>
        </p:nvSpPr>
        <p:spPr>
          <a:xfrm>
            <a:off x="4347972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355848" y="251460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3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3493008" y="265176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layer &amp; expansion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93008" y="315468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38728" y="3474720"/>
            <a:ext cx="22585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 generation for low-risk alerts; multi-condition support; multilingual UX.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93008" y="5212080"/>
            <a:ext cx="2350008" cy="548640"/>
          </a:xfrm>
          <a:prstGeom prst="roundRect">
            <a:avLst>
              <a:gd name="adj" fmla="val 13333"/>
            </a:avLst>
          </a:prstGeom>
          <a:solidFill>
            <a:srgbClr val="0A53BE"/>
          </a:solidFill>
          <a:ln/>
        </p:spPr>
      </p:sp>
      <p:sp>
        <p:nvSpPr>
          <p:cNvPr id="21" name="Text 19"/>
          <p:cNvSpPr/>
          <p:nvPr/>
        </p:nvSpPr>
        <p:spPr>
          <a:xfrm>
            <a:off x="3538728" y="521208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 &lt; 5% on auto-sent alerts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55180" y="1737360"/>
            <a:ext cx="640080" cy="64008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3" name="Text 21"/>
          <p:cNvSpPr/>
          <p:nvPr/>
        </p:nvSpPr>
        <p:spPr>
          <a:xfrm>
            <a:off x="71551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163056" y="251460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3F7FD"/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265176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distribution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0216" y="315468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45936" y="3474720"/>
            <a:ext cx="22585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PBM/health-plan pilot program; caregiver dashboard; formal regulatory review for target market.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0216" y="5212080"/>
            <a:ext cx="2350008" cy="548640"/>
          </a:xfrm>
          <a:prstGeom prst="roundRect">
            <a:avLst>
              <a:gd name="adj" fmla="val 13333"/>
            </a:avLst>
          </a:prstGeom>
          <a:solidFill>
            <a:srgbClr val="0A53BE"/>
          </a:solidFill>
          <a:ln/>
        </p:spPr>
      </p:sp>
      <p:sp>
        <p:nvSpPr>
          <p:cNvPr id="29" name="Text 27"/>
          <p:cNvSpPr/>
          <p:nvPr/>
        </p:nvSpPr>
        <p:spPr>
          <a:xfrm>
            <a:off x="6345936" y="521208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signed PBM/insurer pilot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962388" y="1737360"/>
            <a:ext cx="640080" cy="64008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31" name="Text 29"/>
          <p:cNvSpPr/>
          <p:nvPr/>
        </p:nvSpPr>
        <p:spPr>
          <a:xfrm>
            <a:off x="9962388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970264" y="2514600"/>
            <a:ext cx="2624328" cy="3383280"/>
          </a:xfrm>
          <a:prstGeom prst="roundRect">
            <a:avLst>
              <a:gd name="adj" fmla="val 3484"/>
            </a:avLst>
          </a:prstGeom>
          <a:solidFill>
            <a:srgbClr val="F3F7FD"/>
          </a:solidFill>
          <a:ln/>
        </p:spPr>
      </p:sp>
      <p:sp>
        <p:nvSpPr>
          <p:cNvPr id="33" name="Text 31"/>
          <p:cNvSpPr/>
          <p:nvPr/>
        </p:nvSpPr>
        <p:spPr>
          <a:xfrm>
            <a:off x="9107424" y="265176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integration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07424" y="3154680"/>
            <a:ext cx="2350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15+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53144" y="3474720"/>
            <a:ext cx="225856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EHR/pharmacy-system API integration; personalized adherence-risk prediction model.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07424" y="5212080"/>
            <a:ext cx="2350008" cy="548640"/>
          </a:xfrm>
          <a:prstGeom prst="roundRect">
            <a:avLst>
              <a:gd name="adj" fmla="val 13333"/>
            </a:avLst>
          </a:prstGeom>
          <a:solidFill>
            <a:srgbClr val="0A53BE"/>
          </a:solidFill>
          <a:ln/>
        </p:spPr>
      </p:sp>
      <p:sp>
        <p:nvSpPr>
          <p:cNvPr id="37" name="Text 35"/>
          <p:cNvSpPr/>
          <p:nvPr/>
        </p:nvSpPr>
        <p:spPr>
          <a:xfrm>
            <a:off x="9153144" y="5212080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≥1 partner platform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revenue models, anchored by a B2B2C channel that mirrors the go-to-market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001C4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0A53B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B2B2C — PMPM licensing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plans and PBMs pay a per-member-per-month fee to offer MedGuardian as part of a chronic-care management program — justified by measurable readmission-cost avoidance.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3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96596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5B8DD9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Direct-to-consumer freemium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0040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adherence reminders and low-risk interaction checks are free; a premium tier (caregiver dashboard, unlimited pharmacist chat) is a paid subscription.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566160" cy="4023360"/>
          </a:xfrm>
          <a:prstGeom prst="roundRect">
            <a:avLst>
              <a:gd name="adj" fmla="val 2564"/>
            </a:avLst>
          </a:prstGeom>
          <a:solidFill>
            <a:srgbClr val="F3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1965960"/>
            <a:ext cx="1463040" cy="320040"/>
          </a:xfrm>
          <a:prstGeom prst="roundRect">
            <a:avLst>
              <a:gd name="adj" fmla="val 50000"/>
            </a:avLst>
          </a:prstGeom>
          <a:solidFill>
            <a:srgbClr val="8FA3C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2423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licensing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3200400"/>
            <a:ext cx="3108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chains and EHR vendors license the interaction/adherence engine as an embedded feature via API, priced on usage volume.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Specialty Pharma Extension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specialty pharma changes the calculus — and the new segment it unlocks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01C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556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CHANGES THE CALCULUS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02996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dose of a low-cost generic is a clinical risk. A missed dose or early discontinuation of a specialty biologic — often several thousand dollars per month — is both a clinical and a revenue event. MedGuardian's adherence and interaction-monitoring core is directly reusable infrastructure for the Patient Support Programs manufacturers already fund for their specialty products.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3F7FD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329184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44752" y="32461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SEGMENT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44752" y="34655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manufacturers / specialty PSP programs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 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4114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patient support programs for its own specialty/biologic products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617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20240" y="4617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discontinuation; real-world evidence for payers; REMS-ready safety monitoring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120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51206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Program/platform fee from the manufacturer's PSP budget — not the patient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56235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20240" y="5623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Procurement- and medical-affairs-driven; needs a data-governance review before scaling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0449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TO PHARMA COMPANIES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3832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3F7FD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3438144"/>
            <a:ext cx="4992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retention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19088" y="3675888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discontinuation-risk signals let a hub program intervene before a patient drops a specialty drug entirely.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416052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3F7FD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215384"/>
            <a:ext cx="4992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Payer negotiation leverage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19088" y="4453128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adherence data strengthens value-based contracts tied to demonstrated effectiveness.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493776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3F7FD"/>
          </a:solidFill>
          <a:ln/>
        </p:spPr>
      </p:sp>
      <p:sp>
        <p:nvSpPr>
          <p:cNvPr id="29" name="Text 27"/>
          <p:cNvSpPr/>
          <p:nvPr/>
        </p:nvSpPr>
        <p:spPr>
          <a:xfrm>
            <a:off x="6419088" y="4992624"/>
            <a:ext cx="4992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REMS support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19088" y="5230368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adherence/safety-monitoring layer helps satisfy FDA-mandated risk mitigation strategies.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571500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3F7FD"/>
          </a:solidFill>
          <a:ln/>
        </p:spPr>
      </p:sp>
      <p:sp>
        <p:nvSpPr>
          <p:cNvPr id="32" name="Text 30"/>
          <p:cNvSpPr/>
          <p:nvPr/>
        </p:nvSpPr>
        <p:spPr>
          <a:xfrm>
            <a:off x="6419088" y="5769864"/>
            <a:ext cx="49926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Differentiated patient support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19088" y="6007608"/>
            <a:ext cx="4992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helpful, AI-assisted PSP is a retention lever independent of the drug's own efficacy.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789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clinical data stays with the physician and pharmacist; only de-identified, consented aggregates reach the pharma layer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00600" y="2286000"/>
            <a:ext cx="2560320" cy="0"/>
          </a:xfrm>
          <a:prstGeom prst="line">
            <a:avLst/>
          </a:prstGeom>
          <a:noFill/>
          <a:ln w="38100">
            <a:solidFill>
              <a:srgbClr val="0A53B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0" y="213969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53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213969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486900" y="2971800"/>
            <a:ext cx="0" cy="2011680"/>
          </a:xfrm>
          <a:prstGeom prst="line">
            <a:avLst/>
          </a:prstGeom>
          <a:noFill/>
          <a:ln w="38100">
            <a:solidFill>
              <a:srgbClr val="0A53B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174736" y="3831336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A53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4736" y="3831336"/>
            <a:ext cx="2624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5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 &amp; interaction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5669280"/>
            <a:ext cx="2560320" cy="0"/>
          </a:xfrm>
          <a:prstGeom prst="line">
            <a:avLst/>
          </a:prstGeom>
          <a:noFill/>
          <a:ln w="38100">
            <a:solidFill>
              <a:srgbClr val="5B6B85"/>
            </a:solidFill>
            <a:prstDash val="dash"/>
            <a:headEnd type="triangl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974336" y="5522976"/>
            <a:ext cx="221284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6B8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5522976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 aggregate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74620" y="2971800"/>
            <a:ext cx="0" cy="2011680"/>
          </a:xfrm>
          <a:prstGeom prst="line">
            <a:avLst/>
          </a:prstGeom>
          <a:noFill/>
          <a:ln w="38100">
            <a:solidFill>
              <a:srgbClr val="5B6B85"/>
            </a:solidFill>
            <a:prstDash val="dash"/>
            <a:headEnd type="triangl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239012" y="3831336"/>
            <a:ext cx="287121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6B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9012" y="3831336"/>
            <a:ext cx="2871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RWE informs care &amp; PSP outreach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600200"/>
            <a:ext cx="4251960" cy="1371600"/>
          </a:xfrm>
          <a:prstGeom prst="roundRect">
            <a:avLst>
              <a:gd name="adj" fmla="val 8000"/>
            </a:avLst>
          </a:prstGeom>
          <a:solidFill>
            <a:srgbClr val="0A53B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7647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PHYSICIAN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167128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Prescribes; sees adherence &amp; interaction trends for their patients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1600200"/>
            <a:ext cx="4251960" cy="1371600"/>
          </a:xfrm>
          <a:prstGeom prst="roundRect">
            <a:avLst>
              <a:gd name="adj" fmla="val 8000"/>
            </a:avLst>
          </a:prstGeom>
          <a:solidFill>
            <a:srgbClr val="94BFE7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176479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35240" y="2167128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app captures adherence &amp; interaction data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0920" y="4983480"/>
            <a:ext cx="4251960" cy="1371600"/>
          </a:xfrm>
          <a:prstGeom prst="roundRect">
            <a:avLst>
              <a:gd name="adj" fmla="val 8000"/>
            </a:avLst>
          </a:prstGeom>
          <a:solidFill>
            <a:srgbClr val="0A53BE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51480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PHARMACIST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5240" y="5550408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high-risk flag before it reaches the patient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4251960" cy="1371600"/>
          </a:xfrm>
          <a:prstGeom prst="roundRect">
            <a:avLst>
              <a:gd name="adj" fmla="val 8000"/>
            </a:avLst>
          </a:prstGeom>
          <a:solidFill>
            <a:srgbClr val="001C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14807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/ PSP TEAM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5550408"/>
            <a:ext cx="3703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De-identified, aggregate program insights (RWE)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6400800"/>
            <a:ext cx="457200" cy="0"/>
          </a:xfrm>
          <a:prstGeom prst="line">
            <a:avLst/>
          </a:prstGeom>
          <a:noFill/>
          <a:ln w="38100">
            <a:solidFill>
              <a:srgbClr val="0A53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628192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clinical data flow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0" y="6400800"/>
            <a:ext cx="457200" cy="0"/>
          </a:xfrm>
          <a:prstGeom prst="line">
            <a:avLst/>
          </a:prstGeom>
          <a:noFill/>
          <a:ln w="38100">
            <a:solidFill>
              <a:srgbClr val="5B6B8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480560" y="62819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De-identified, consented aggregate flow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MedGuardian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high-value, high-feasibility opportunity with a safety design that scales trust before it scales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E2B63"/>
          </a:solidFill>
          <a:ln w="9525">
            <a:solidFill>
              <a:srgbClr val="1E3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1284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top-3 driver of preventable readmission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Polypharmacy interaction and adherence failures are common, costly, and have a clear AI-addressable pattern.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20116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E2B63"/>
          </a:solidFill>
          <a:ln w="9525">
            <a:solidFill>
              <a:srgbClr val="1E3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21284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Buildable on data available today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27889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DrugBank, RxNorm, and openFDA make the MVP feasible now — not a multi-year data-acquisition project.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E2B63"/>
          </a:solidFill>
          <a:ln w="9525">
            <a:solidFill>
              <a:srgbClr val="1E3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074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from day one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9834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high-risk output is pharmacist-reviewed before it reaches a patient — automation is earned, not assumed.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420624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0E2B63"/>
          </a:solidFill>
          <a:ln w="9525">
            <a:solidFill>
              <a:srgbClr val="1E3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4074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aligned revenue paths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37960" y="49834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B2B2C channel that pays for outcomes, plus a consumer freemium layer that builds the daily-use habit.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AI Product Proposal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2026-08-16T15:34:02Z</dcterms:created>
  <dcterms:modified xsi:type="dcterms:W3CDTF">2026-08-16T15:34:02Z</dcterms:modified>
</cp:coreProperties>
</file>