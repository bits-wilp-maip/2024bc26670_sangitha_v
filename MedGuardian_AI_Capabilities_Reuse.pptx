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C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MedGuardian AI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822960" y="269748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94B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Reusable Blueprint for Safe, Explainable AI in Regulated Products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22960" y="324612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8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capabilities  •  why the approach transfers  •  where else it applies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880360" y="4709160"/>
            <a:ext cx="1371600" cy="1371600"/>
          </a:xfrm>
          <a:prstGeom prst="ellipse">
            <a:avLst/>
          </a:prstGeom>
          <a:solidFill>
            <a:srgbClr val="0A53BE">
              <a:alpha val="65000"/>
            </a:srgbClr>
          </a:solidFill>
          <a:ln w="12700">
            <a:solidFill>
              <a:srgbClr val="94BF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60520" y="4709160"/>
            <a:ext cx="1371600" cy="1371600"/>
          </a:xfrm>
          <a:prstGeom prst="ellipse">
            <a:avLst/>
          </a:prstGeom>
          <a:solidFill>
            <a:srgbClr val="0A53BE">
              <a:alpha val="65000"/>
            </a:srgbClr>
          </a:solidFill>
          <a:ln w="12700">
            <a:solidFill>
              <a:srgbClr val="94BFE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520440" y="4069080"/>
            <a:ext cx="1371600" cy="1371600"/>
          </a:xfrm>
          <a:prstGeom prst="ellipse">
            <a:avLst/>
          </a:prstGeom>
          <a:solidFill>
            <a:srgbClr val="0A53BE"/>
          </a:solidFill>
          <a:ln w="12700">
            <a:solidFill>
              <a:srgbClr val="94BF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97480" y="507492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977640" y="507492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37560" y="44348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13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Oversight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58064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F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ingredients, working together on every AI-touched screen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C9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MedGuardian AI — Product capabilities &amp; reuse potential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1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This “Good AI”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design principles — not the model, but how it's put to work — are what make this AI trustworthy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57800" cy="2148840"/>
          </a:xfrm>
          <a:prstGeom prst="roundRect">
            <a:avLst>
              <a:gd name="adj" fmla="val 4255"/>
            </a:avLst>
          </a:prstGeom>
          <a:solidFill>
            <a:srgbClr val="F3F7FD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92808"/>
            <a:ext cx="566928" cy="566928"/>
          </a:xfrm>
          <a:prstGeom prst="ellipse">
            <a:avLst/>
          </a:prstGeom>
          <a:solidFill>
            <a:srgbClr val="0A53B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9280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“?”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54480" y="1874520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1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explains itself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606040"/>
            <a:ext cx="4709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just a risk score — every flag comes with a plain-language reason a patient or reviewer can actually understand and act 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63640" y="1600200"/>
            <a:ext cx="5257800" cy="2148840"/>
          </a:xfrm>
          <a:prstGeom prst="roundRect">
            <a:avLst>
              <a:gd name="adj" fmla="val 4255"/>
            </a:avLst>
          </a:prstGeom>
          <a:solidFill>
            <a:srgbClr val="F3F7FD"/>
          </a:solidFill>
          <a:ln/>
        </p:spPr>
      </p:sp>
      <p:sp>
        <p:nvSpPr>
          <p:cNvPr id="10" name="Shape 8"/>
          <p:cNvSpPr/>
          <p:nvPr/>
        </p:nvSpPr>
        <p:spPr>
          <a:xfrm>
            <a:off x="6537960" y="1892808"/>
            <a:ext cx="566928" cy="566928"/>
          </a:xfrm>
          <a:prstGeom prst="ellipse">
            <a:avLst/>
          </a:prstGeom>
          <a:solidFill>
            <a:srgbClr val="0A53BE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189280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269480" y="1874520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1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never acts alone on risk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37960" y="2606040"/>
            <a:ext cx="4709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and high-risk output is always routed to a human for approval before it reaches the end user — the AI assists the decision, it doesn't make it.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5257800" cy="2148840"/>
          </a:xfrm>
          <a:prstGeom prst="roundRect">
            <a:avLst>
              <a:gd name="adj" fmla="val 4255"/>
            </a:avLst>
          </a:prstGeom>
          <a:solidFill>
            <a:srgbClr val="F3F7FD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4315968"/>
            <a:ext cx="566928" cy="566928"/>
          </a:xfrm>
          <a:prstGeom prst="ellipse">
            <a:avLst/>
          </a:prstGeom>
          <a:solidFill>
            <a:srgbClr val="0A53BE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31596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54480" y="4297680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1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has a safety net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5029200"/>
            <a:ext cx="4709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live AI model is unavailable, the product falls back to a dependable rules-based mode automatically — the experience degrades gracefully, it never goes dark.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63640" y="4023360"/>
            <a:ext cx="5257800" cy="2148840"/>
          </a:xfrm>
          <a:prstGeom prst="roundRect">
            <a:avLst>
              <a:gd name="adj" fmla="val 4255"/>
            </a:avLst>
          </a:prstGeom>
          <a:solidFill>
            <a:srgbClr val="F3F7FD"/>
          </a:solidFill>
          <a:ln/>
        </p:spPr>
      </p:sp>
      <p:sp>
        <p:nvSpPr>
          <p:cNvPr id="20" name="Shape 18"/>
          <p:cNvSpPr/>
          <p:nvPr/>
        </p:nvSpPr>
        <p:spPr>
          <a:xfrm>
            <a:off x="6537960" y="4315968"/>
            <a:ext cx="566928" cy="566928"/>
          </a:xfrm>
          <a:prstGeom prst="ellipse">
            <a:avLst/>
          </a:prstGeom>
          <a:solidFill>
            <a:srgbClr val="0A53BE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431596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269480" y="4297680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1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It's grounded in real domain data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37960" y="5029200"/>
            <a:ext cx="4709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are anchored to actual medication reference data, not just general AI knowledge — reducing the risk of a confident but wrong answer.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0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MedGuardian AI — Product capabilities &amp; reuse potential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1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AI Capabilities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distinct jobs the AI performs today — for two very different audiences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121408" cy="4206240"/>
          </a:xfrm>
          <a:prstGeom prst="roundRect">
            <a:avLst>
              <a:gd name="adj" fmla="val 4310"/>
            </a:avLst>
          </a:prstGeom>
          <a:solidFill>
            <a:srgbClr val="F3F7FD"/>
          </a:solidFill>
          <a:ln/>
        </p:spPr>
      </p:sp>
      <p:sp>
        <p:nvSpPr>
          <p:cNvPr id="5" name="Shape 3"/>
          <p:cNvSpPr/>
          <p:nvPr/>
        </p:nvSpPr>
        <p:spPr>
          <a:xfrm>
            <a:off x="1335024" y="1856232"/>
            <a:ext cx="548640" cy="548640"/>
          </a:xfrm>
          <a:prstGeom prst="ellipse">
            <a:avLst/>
          </a:prstGeom>
          <a:solidFill>
            <a:srgbClr val="0A53BE"/>
          </a:solidFill>
          <a:ln/>
        </p:spPr>
      </p:sp>
      <p:sp>
        <p:nvSpPr>
          <p:cNvPr id="6" name="Text 4"/>
          <p:cNvSpPr/>
          <p:nvPr/>
        </p:nvSpPr>
        <p:spPr>
          <a:xfrm>
            <a:off x="1335024" y="18562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13232" y="2560320"/>
            <a:ext cx="1792224" cy="310896"/>
          </a:xfrm>
          <a:prstGeom prst="roundRect">
            <a:avLst>
              <a:gd name="adj" fmla="val 50000"/>
            </a:avLst>
          </a:prstGeom>
          <a:solidFill>
            <a:srgbClr val="A8D5FF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2560320"/>
            <a:ext cx="17922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13232" y="3017520"/>
            <a:ext cx="179222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01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Plain-language risk explainer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13232" y="3840480"/>
            <a:ext cx="179222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a technical drug interaction into a sentence a patient can understand and trust.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834640" y="1600200"/>
            <a:ext cx="2121408" cy="4206240"/>
          </a:xfrm>
          <a:prstGeom prst="roundRect">
            <a:avLst>
              <a:gd name="adj" fmla="val 4310"/>
            </a:avLst>
          </a:prstGeom>
          <a:solidFill>
            <a:srgbClr val="F3F7FD"/>
          </a:solidFill>
          <a:ln/>
        </p:spPr>
      </p:sp>
      <p:sp>
        <p:nvSpPr>
          <p:cNvPr id="12" name="Shape 10"/>
          <p:cNvSpPr/>
          <p:nvPr/>
        </p:nvSpPr>
        <p:spPr>
          <a:xfrm>
            <a:off x="3621024" y="1856232"/>
            <a:ext cx="548640" cy="548640"/>
          </a:xfrm>
          <a:prstGeom prst="ellipse">
            <a:avLst/>
          </a:prstGeom>
          <a:solidFill>
            <a:srgbClr val="0A53BE"/>
          </a:solidFill>
          <a:ln/>
        </p:spPr>
      </p:sp>
      <p:sp>
        <p:nvSpPr>
          <p:cNvPr id="13" name="Text 11"/>
          <p:cNvSpPr/>
          <p:nvPr/>
        </p:nvSpPr>
        <p:spPr>
          <a:xfrm>
            <a:off x="3621024" y="18562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999232" y="2560320"/>
            <a:ext cx="1792224" cy="310896"/>
          </a:xfrm>
          <a:prstGeom prst="roundRect">
            <a:avLst>
              <a:gd name="adj" fmla="val 50000"/>
            </a:avLst>
          </a:prstGeom>
          <a:solidFill>
            <a:srgbClr val="A8D5FF"/>
          </a:solidFill>
          <a:ln/>
        </p:spPr>
      </p:sp>
      <p:sp>
        <p:nvSpPr>
          <p:cNvPr id="15" name="Text 13"/>
          <p:cNvSpPr/>
          <p:nvPr/>
        </p:nvSpPr>
        <p:spPr>
          <a:xfrm>
            <a:off x="2999232" y="2560320"/>
            <a:ext cx="17922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999232" y="3017520"/>
            <a:ext cx="179222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01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24/7 conversational copilot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999232" y="3840480"/>
            <a:ext cx="179222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medication questions any time, cutting routine calls to a pharmacist.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120640" y="1600200"/>
            <a:ext cx="2121408" cy="4206240"/>
          </a:xfrm>
          <a:prstGeom prst="roundRect">
            <a:avLst>
              <a:gd name="adj" fmla="val 4310"/>
            </a:avLst>
          </a:prstGeom>
          <a:solidFill>
            <a:srgbClr val="F3F7FD"/>
          </a:solidFill>
          <a:ln/>
        </p:spPr>
      </p:sp>
      <p:sp>
        <p:nvSpPr>
          <p:cNvPr id="19" name="Shape 17"/>
          <p:cNvSpPr/>
          <p:nvPr/>
        </p:nvSpPr>
        <p:spPr>
          <a:xfrm>
            <a:off x="5907024" y="1856232"/>
            <a:ext cx="548640" cy="548640"/>
          </a:xfrm>
          <a:prstGeom prst="ellipse">
            <a:avLst/>
          </a:prstGeom>
          <a:solidFill>
            <a:srgbClr val="0A53BE"/>
          </a:solidFill>
          <a:ln/>
        </p:spPr>
      </p:sp>
      <p:sp>
        <p:nvSpPr>
          <p:cNvPr id="20" name="Text 18"/>
          <p:cNvSpPr/>
          <p:nvPr/>
        </p:nvSpPr>
        <p:spPr>
          <a:xfrm>
            <a:off x="5907024" y="18562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285232" y="2560320"/>
            <a:ext cx="1792224" cy="310896"/>
          </a:xfrm>
          <a:prstGeom prst="roundRect">
            <a:avLst>
              <a:gd name="adj" fmla="val 50000"/>
            </a:avLst>
          </a:prstGeom>
          <a:solidFill>
            <a:srgbClr val="A8D5FF"/>
          </a:solidFill>
          <a:ln/>
        </p:spPr>
      </p:sp>
      <p:sp>
        <p:nvSpPr>
          <p:cNvPr id="22" name="Text 20"/>
          <p:cNvSpPr/>
          <p:nvPr/>
        </p:nvSpPr>
        <p:spPr>
          <a:xfrm>
            <a:off x="5285232" y="2560320"/>
            <a:ext cx="17922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Pharmacist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285232" y="3017520"/>
            <a:ext cx="179222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01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alert triage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285232" y="3840480"/>
            <a:ext cx="179222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Pre-sorts and prioritizes risk flags so reviewers spend time only on what matters.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06640" y="1600200"/>
            <a:ext cx="2121408" cy="4206240"/>
          </a:xfrm>
          <a:prstGeom prst="roundRect">
            <a:avLst>
              <a:gd name="adj" fmla="val 4310"/>
            </a:avLst>
          </a:prstGeom>
          <a:solidFill>
            <a:srgbClr val="F3F7FD"/>
          </a:solidFill>
          <a:ln/>
        </p:spPr>
      </p:sp>
      <p:sp>
        <p:nvSpPr>
          <p:cNvPr id="26" name="Shape 24"/>
          <p:cNvSpPr/>
          <p:nvPr/>
        </p:nvSpPr>
        <p:spPr>
          <a:xfrm>
            <a:off x="8193024" y="1856232"/>
            <a:ext cx="548640" cy="548640"/>
          </a:xfrm>
          <a:prstGeom prst="ellipse">
            <a:avLst/>
          </a:prstGeom>
          <a:solidFill>
            <a:srgbClr val="0A53BE"/>
          </a:solidFill>
          <a:ln/>
        </p:spPr>
      </p:sp>
      <p:sp>
        <p:nvSpPr>
          <p:cNvPr id="27" name="Text 25"/>
          <p:cNvSpPr/>
          <p:nvPr/>
        </p:nvSpPr>
        <p:spPr>
          <a:xfrm>
            <a:off x="8193024" y="18562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7571232" y="2560320"/>
            <a:ext cx="1792224" cy="310896"/>
          </a:xfrm>
          <a:prstGeom prst="roundRect">
            <a:avLst>
              <a:gd name="adj" fmla="val 50000"/>
            </a:avLst>
          </a:prstGeom>
          <a:solidFill>
            <a:srgbClr val="A8D5FF"/>
          </a:solidFill>
          <a:ln/>
        </p:spPr>
      </p:sp>
      <p:sp>
        <p:nvSpPr>
          <p:cNvPr id="29" name="Text 27"/>
          <p:cNvSpPr/>
          <p:nvPr/>
        </p:nvSpPr>
        <p:spPr>
          <a:xfrm>
            <a:off x="7571232" y="2560320"/>
            <a:ext cx="17922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571232" y="3017520"/>
            <a:ext cx="179222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01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Adherence support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7571232" y="3840480"/>
            <a:ext cx="179222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Notices missed-dose patterns and offers encouragement, not just reminders.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692640" y="1600200"/>
            <a:ext cx="2121408" cy="4206240"/>
          </a:xfrm>
          <a:prstGeom prst="roundRect">
            <a:avLst>
              <a:gd name="adj" fmla="val 4310"/>
            </a:avLst>
          </a:prstGeom>
          <a:solidFill>
            <a:srgbClr val="F3F7FD"/>
          </a:solidFill>
          <a:ln/>
        </p:spPr>
      </p:sp>
      <p:sp>
        <p:nvSpPr>
          <p:cNvPr id="33" name="Shape 31"/>
          <p:cNvSpPr/>
          <p:nvPr/>
        </p:nvSpPr>
        <p:spPr>
          <a:xfrm>
            <a:off x="10479024" y="1856232"/>
            <a:ext cx="548640" cy="548640"/>
          </a:xfrm>
          <a:prstGeom prst="ellipse">
            <a:avLst/>
          </a:prstGeom>
          <a:solidFill>
            <a:srgbClr val="0A53BE"/>
          </a:solidFill>
          <a:ln/>
        </p:spPr>
      </p:sp>
      <p:sp>
        <p:nvSpPr>
          <p:cNvPr id="34" name="Text 32"/>
          <p:cNvSpPr/>
          <p:nvPr/>
        </p:nvSpPr>
        <p:spPr>
          <a:xfrm>
            <a:off x="10479024" y="18562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9857232" y="2560320"/>
            <a:ext cx="1792224" cy="310896"/>
          </a:xfrm>
          <a:prstGeom prst="roundRect">
            <a:avLst>
              <a:gd name="adj" fmla="val 50000"/>
            </a:avLst>
          </a:prstGeom>
          <a:solidFill>
            <a:srgbClr val="A8D5FF"/>
          </a:solidFill>
          <a:ln/>
        </p:spPr>
      </p:sp>
      <p:sp>
        <p:nvSpPr>
          <p:cNvPr id="36" name="Text 34"/>
          <p:cNvSpPr/>
          <p:nvPr/>
        </p:nvSpPr>
        <p:spPr>
          <a:xfrm>
            <a:off x="9857232" y="2560320"/>
            <a:ext cx="17922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team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9857232" y="3017520"/>
            <a:ext cx="179222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01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One-click status reporting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9857232" y="3840480"/>
            <a:ext cx="179222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a team's roadmap, risks, and backlog into a stakeholder-ready narrative instantly.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0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MedGuardian AI — Product capabilities &amp; reuse potential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1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Pattern Is Reusable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 isn't the medication use case — it's the underlying approach, which transfers to almost any regulated AI product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937760" cy="1234440"/>
          </a:xfrm>
          <a:prstGeom prst="roundRect">
            <a:avLst>
              <a:gd name="adj" fmla="val 6667"/>
            </a:avLst>
          </a:prstGeom>
          <a:solidFill>
            <a:srgbClr val="A8D5F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288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Experience layer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00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Chat, dashboards, review queues — the part people see and touch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4937760" cy="1234440"/>
          </a:xfrm>
          <a:prstGeom prst="roundRect">
            <a:avLst>
              <a:gd name="adj" fmla="val 6667"/>
            </a:avLst>
          </a:prstGeom>
          <a:solidFill>
            <a:srgbClr val="0A53BE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2461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Swappable AI “brain”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61188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AI model when available, dependable rules-based fallback when it isn't — same output contract either way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4526280"/>
            <a:ext cx="4937760" cy="1234440"/>
          </a:xfrm>
          <a:prstGeom prst="roundRect">
            <a:avLst>
              <a:gd name="adj" fmla="val 6667"/>
            </a:avLst>
          </a:prstGeom>
          <a:solidFill>
            <a:srgbClr val="001C4A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6634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 data layer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502920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Whatever facts the product needs to be right — interchangeable per use case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598932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human-review step sits beside every layer — it's a structural feature of the design, not an afterthought.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89320" y="1691640"/>
            <a:ext cx="5623560" cy="960120"/>
          </a:xfrm>
          <a:prstGeom prst="roundRect">
            <a:avLst>
              <a:gd name="adj" fmla="val 8571"/>
            </a:avLst>
          </a:prstGeom>
          <a:solidFill>
            <a:srgbClr val="F3F7FD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1783080"/>
            <a:ext cx="5166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1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Swap the brain, keep the experience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217920" y="2103120"/>
            <a:ext cx="5166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which AI model powers the product without touching the screens users interact with.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89320" y="2788920"/>
            <a:ext cx="5623560" cy="960120"/>
          </a:xfrm>
          <a:prstGeom prst="roundRect">
            <a:avLst>
              <a:gd name="adj" fmla="val 8571"/>
            </a:avLst>
          </a:prstGeom>
          <a:solidFill>
            <a:srgbClr val="F3F7FD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0" y="2880360"/>
            <a:ext cx="5166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1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Swap the data, keep the safety logic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217920" y="3200400"/>
            <a:ext cx="5166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the same pattern at a different domain's facts and the human-review guardrail comes along automatically.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989320" y="3886200"/>
            <a:ext cx="5623560" cy="960120"/>
          </a:xfrm>
          <a:prstGeom prst="roundRect">
            <a:avLst>
              <a:gd name="adj" fmla="val 8571"/>
            </a:avLst>
          </a:prstGeom>
          <a:solidFill>
            <a:srgbClr val="F3F7FD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0" y="3977640"/>
            <a:ext cx="5166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1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single point of failure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217920" y="4297680"/>
            <a:ext cx="5166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there's always a fallback mode, the product stays usable even if the AI vendor has an outage.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989320" y="4983480"/>
            <a:ext cx="5623560" cy="960120"/>
          </a:xfrm>
          <a:prstGeom prst="roundRect">
            <a:avLst>
              <a:gd name="adj" fmla="val 8571"/>
            </a:avLst>
          </a:prstGeom>
          <a:solidFill>
            <a:srgbClr val="F3F7FD"/>
          </a:solidFill>
          <a:ln/>
        </p:spPr>
      </p:sp>
      <p:sp>
        <p:nvSpPr>
          <p:cNvPr id="24" name="Text 22"/>
          <p:cNvSpPr/>
          <p:nvPr/>
        </p:nvSpPr>
        <p:spPr>
          <a:xfrm>
            <a:off x="6217920" y="5074920"/>
            <a:ext cx="5166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1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audiences from one investment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217920" y="5394960"/>
            <a:ext cx="5166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underlying approach already serves both an external customer and an internal team.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0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MedGuardian AI — Product capabilities &amp; reuse potential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1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Use Cases for This Pattern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Anywhere an AI needs to help fast but a human must stay accountable for the outcome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3F7FD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solidFill>
            <a:srgbClr val="0A53B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❤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173736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01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Other patient-facing health apps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2423160"/>
            <a:ext cx="29718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Chronic-disease management, post-surgery recovery follow-up, and any program where patients ask health questions in plain language.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06240" y="155448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3F7FD"/>
          </a:solidFill>
          <a:ln/>
        </p:spPr>
      </p:sp>
      <p:sp>
        <p:nvSpPr>
          <p:cNvPr id="10" name="Shape 8"/>
          <p:cNvSpPr/>
          <p:nvPr/>
        </p:nvSpPr>
        <p:spPr>
          <a:xfrm>
            <a:off x="4434840" y="1783080"/>
            <a:ext cx="502920" cy="502920"/>
          </a:xfrm>
          <a:prstGeom prst="ellipse">
            <a:avLst/>
          </a:prstGeom>
          <a:solidFill>
            <a:srgbClr val="0A53BE"/>
          </a:solidFill>
          <a:ln/>
        </p:spPr>
      </p:sp>
      <p:sp>
        <p:nvSpPr>
          <p:cNvPr id="11" name="Text 9"/>
          <p:cNvSpPr/>
          <p:nvPr/>
        </p:nvSpPr>
        <p:spPr>
          <a:xfrm>
            <a:off x="443484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74920" y="173736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01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Pharmacovigilance &amp; safety monitoring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434840" y="2423160"/>
            <a:ext cx="29718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Triaging incoming adverse-event reports and surfacing the ones a safety officer needs to look at first.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863840" y="155448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3F7FD"/>
          </a:solidFill>
          <a:ln/>
        </p:spPr>
      </p:sp>
      <p:sp>
        <p:nvSpPr>
          <p:cNvPr id="15" name="Shape 13"/>
          <p:cNvSpPr/>
          <p:nvPr/>
        </p:nvSpPr>
        <p:spPr>
          <a:xfrm>
            <a:off x="8092440" y="1783080"/>
            <a:ext cx="502920" cy="502920"/>
          </a:xfrm>
          <a:prstGeom prst="ellipse">
            <a:avLst/>
          </a:prstGeom>
          <a:solidFill>
            <a:srgbClr val="0A53BE"/>
          </a:solidFill>
          <a:ln/>
        </p:spPr>
      </p:sp>
      <p:sp>
        <p:nvSpPr>
          <p:cNvPr id="16" name="Text 14"/>
          <p:cNvSpPr/>
          <p:nvPr/>
        </p:nvSpPr>
        <p:spPr>
          <a:xfrm>
            <a:off x="809244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732520" y="173736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01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 trial matching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092440" y="2423160"/>
            <a:ext cx="29718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Explaining dense eligibility criteria in plain language, with a coordinator confirming the final match.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377440" y="374904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3F7FD"/>
          </a:solidFill>
          <a:ln/>
        </p:spPr>
      </p:sp>
      <p:sp>
        <p:nvSpPr>
          <p:cNvPr id="20" name="Shape 18"/>
          <p:cNvSpPr/>
          <p:nvPr/>
        </p:nvSpPr>
        <p:spPr>
          <a:xfrm>
            <a:off x="2606040" y="3977640"/>
            <a:ext cx="502920" cy="502920"/>
          </a:xfrm>
          <a:prstGeom prst="ellipse">
            <a:avLst/>
          </a:prstGeom>
          <a:solidFill>
            <a:srgbClr val="0A53BE"/>
          </a:solidFill>
          <a:ln/>
        </p:spPr>
      </p:sp>
      <p:sp>
        <p:nvSpPr>
          <p:cNvPr id="21" name="Text 19"/>
          <p:cNvSpPr/>
          <p:nvPr/>
        </p:nvSpPr>
        <p:spPr>
          <a:xfrm>
            <a:off x="2606040" y="3977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246120" y="393192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01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Internal operations copilots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2606040" y="4617720"/>
            <a:ext cx="29718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AI status reporting works for any team's roadmap, risk log, or backlog — not just this product's.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35040" y="374904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3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6263640" y="3977640"/>
            <a:ext cx="502920" cy="502920"/>
          </a:xfrm>
          <a:prstGeom prst="ellipse">
            <a:avLst/>
          </a:prstGeom>
          <a:solidFill>
            <a:srgbClr val="0A53BE"/>
          </a:solidFill>
          <a:ln/>
        </p:spPr>
      </p:sp>
      <p:sp>
        <p:nvSpPr>
          <p:cNvPr id="26" name="Text 24"/>
          <p:cNvSpPr/>
          <p:nvPr/>
        </p:nvSpPr>
        <p:spPr>
          <a:xfrm>
            <a:off x="6263640" y="3977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☎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903720" y="393192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01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Member &amp; customer support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263640" y="4617720"/>
            <a:ext cx="29718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triage pattern applies to insurance, benefits, or support queries that need human sign-off before a high-stakes reply goes out.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01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MedGuardian AI — Product capabilities &amp; reuse potential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1C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Takeaway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B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MedGuardian AI is a working proof that AI can move fast without cutting the human out of the loop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257800" cy="1783080"/>
          </a:xfrm>
          <a:prstGeom prst="roundRect">
            <a:avLst>
              <a:gd name="adj" fmla="val 5128"/>
            </a:avLst>
          </a:prstGeom>
          <a:solidFill>
            <a:srgbClr val="0E2B63"/>
          </a:solidFill>
          <a:ln w="9525">
            <a:solidFill>
              <a:srgbClr val="1E3F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67128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proven pattern, not just a product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22960" y="2743200"/>
            <a:ext cx="4709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7D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+ human sign-off is the reusable core — the medication use case is one instance of it.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63640" y="1965960"/>
            <a:ext cx="5257800" cy="1783080"/>
          </a:xfrm>
          <a:prstGeom prst="roundRect">
            <a:avLst>
              <a:gd name="adj" fmla="val 5128"/>
            </a:avLst>
          </a:prstGeom>
          <a:solidFill>
            <a:srgbClr val="0E2B63"/>
          </a:solidFill>
          <a:ln w="9525">
            <a:solidFill>
              <a:srgbClr val="1E3F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2167128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audiences, one investment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537960" y="2743200"/>
            <a:ext cx="4709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7D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architecture already serves an external patient experience and an internal team's reporting needs.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4023360"/>
            <a:ext cx="5257800" cy="1783080"/>
          </a:xfrm>
          <a:prstGeom prst="roundRect">
            <a:avLst>
              <a:gd name="adj" fmla="val 5128"/>
            </a:avLst>
          </a:prstGeom>
          <a:solidFill>
            <a:srgbClr val="0E2B63"/>
          </a:solidFill>
          <a:ln w="9525">
            <a:solidFill>
              <a:srgbClr val="1E3F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224528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extend, not rebuild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22960" y="4800600"/>
            <a:ext cx="4709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7D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the AI model, swap the domain data, or add a new use case — the safety net comes along for free.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63640" y="4023360"/>
            <a:ext cx="5257800" cy="1783080"/>
          </a:xfrm>
          <a:prstGeom prst="roundRect">
            <a:avLst>
              <a:gd name="adj" fmla="val 5128"/>
            </a:avLst>
          </a:prstGeom>
          <a:solidFill>
            <a:srgbClr val="0E2B63"/>
          </a:solidFill>
          <a:ln w="9525">
            <a:solidFill>
              <a:srgbClr val="1E3F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4224528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Resilient by default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537960" y="4800600"/>
            <a:ext cx="4709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7D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dependable fallback mode means the product keeps working even if the underlying AI service doesn't.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C9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MedGuardian AI — Product capabilities &amp; reuse potential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2026-08-16T11:30:34Z</dcterms:created>
  <dcterms:modified xsi:type="dcterms:W3CDTF">2026-08-16T11:30:34Z</dcterms:modified>
</cp:coreProperties>
</file>